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74" r:id="rId7"/>
    <p:sldId id="276" r:id="rId8"/>
    <p:sldId id="275" r:id="rId9"/>
    <p:sldId id="266" r:id="rId10"/>
    <p:sldId id="267" r:id="rId11"/>
    <p:sldId id="269" r:id="rId12"/>
    <p:sldId id="270" r:id="rId13"/>
    <p:sldId id="272" r:id="rId14"/>
    <p:sldId id="271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66945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dirty="0"/>
              <a:t>Course Title: Data Structure (Lab)</a:t>
            </a:r>
            <a:br>
              <a:rPr lang="en-US" sz="3600" dirty="0"/>
            </a:br>
            <a:r>
              <a:rPr lang="en-US" sz="3600" dirty="0"/>
              <a:t>Course Code: CSC 2107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360" y="2446757"/>
            <a:ext cx="792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</a:p>
          <a:p>
            <a:pPr algn="ctr"/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278417"/>
              </p:ext>
            </p:extLst>
          </p:nvPr>
        </p:nvGraphicFramePr>
        <p:xfrm>
          <a:off x="628360" y="4621360"/>
          <a:ext cx="7921836" cy="7924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21037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53532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368563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6398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778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7692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sz="2000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2000" i="1" dirty="0"/>
                        <a:t>Nyme Ahmed (</a:t>
                      </a:r>
                      <a:r>
                        <a:rPr lang="en-US" sz="2000" i="1" dirty="0">
                          <a:solidFill>
                            <a:schemeClr val="accent1"/>
                          </a:solidFill>
                        </a:rPr>
                        <a:t>nyme.ahmed@aiub.edu</a:t>
                      </a:r>
                      <a:r>
                        <a:rPr lang="en-US" sz="2000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7FA960-ED29-0C07-70A1-1A0FCD656A3C}"/>
              </a:ext>
            </a:extLst>
          </p:cNvPr>
          <p:cNvSpPr txBox="1"/>
          <p:nvPr/>
        </p:nvSpPr>
        <p:spPr>
          <a:xfrm>
            <a:off x="2700705" y="3447714"/>
            <a:ext cx="3777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Topis: Basic Programming on</a:t>
            </a:r>
            <a:b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Loops, Arrays, and Functions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 algn="just"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Assessment and Evaluation</a:t>
            </a:r>
          </a:p>
          <a:p>
            <a:pPr marL="342900" indent="-342900" algn="just"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Rules and Guidelines</a:t>
            </a:r>
          </a:p>
          <a:p>
            <a:pPr marL="342900" indent="-342900" algn="just"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Prerequisites of Today’s Task</a:t>
            </a:r>
          </a:p>
          <a:p>
            <a:pPr marL="342900" indent="-342900" algn="just"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Lab Task</a:t>
            </a:r>
          </a:p>
          <a:p>
            <a:pPr marL="342900" indent="-342900" algn="just"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Books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Assessment and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340" y="2166425"/>
            <a:ext cx="7920801" cy="2869809"/>
          </a:xfrm>
        </p:spPr>
        <p:txBody>
          <a:bodyPr>
            <a:noAutofit/>
          </a:bodyPr>
          <a:lstStyle/>
          <a:p>
            <a:pPr fontAlgn="base"/>
            <a:r>
              <a:rPr lang="en-US" sz="2400" dirty="0">
                <a:solidFill>
                  <a:schemeClr val="tx1"/>
                </a:solidFill>
              </a:rPr>
              <a:t>Assessment Strategy:</a:t>
            </a:r>
          </a:p>
          <a:p>
            <a:pPr marL="342900" indent="-342900" algn="just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Attendance</a:t>
            </a:r>
          </a:p>
          <a:p>
            <a:pPr marL="342900" indent="-342900" algn="just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Lab Performance</a:t>
            </a:r>
          </a:p>
          <a:p>
            <a:pPr marL="342900" indent="-342900" algn="just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Assignment</a:t>
            </a:r>
          </a:p>
          <a:p>
            <a:pPr marL="342900" indent="-342900" algn="just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Lab Exam</a:t>
            </a:r>
          </a:p>
        </p:txBody>
      </p:sp>
    </p:spTree>
    <p:extLst>
      <p:ext uri="{BB962C8B-B14F-4D97-AF65-F5344CB8AC3E}">
        <p14:creationId xmlns:p14="http://schemas.microsoft.com/office/powerpoint/2010/main" val="94709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Assessment and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341" y="2180492"/>
            <a:ext cx="3517613" cy="526297"/>
          </a:xfrm>
        </p:spPr>
        <p:txBody>
          <a:bodyPr>
            <a:noAutofit/>
          </a:bodyPr>
          <a:lstStyle/>
          <a:p>
            <a:pPr fontAlgn="base"/>
            <a:r>
              <a:rPr lang="en-US" sz="2000" dirty="0">
                <a:solidFill>
                  <a:schemeClr val="tx1"/>
                </a:solidFill>
              </a:rPr>
              <a:t>Grading Policy: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A4100BD-E44E-E573-62FD-50E146F7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918774"/>
              </p:ext>
            </p:extLst>
          </p:nvPr>
        </p:nvGraphicFramePr>
        <p:xfrm>
          <a:off x="1524000" y="2706789"/>
          <a:ext cx="6096000" cy="2773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4304164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845145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2817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158950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Marking System for Mid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Marking System for Final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928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Attendance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Attendance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0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73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Assignment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9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Lab Exam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Lab Exam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707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44636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Grand Total: Mid 40% + Final 60%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50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91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Rules and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8664" cy="3713315"/>
          </a:xfrm>
        </p:spPr>
        <p:txBody>
          <a:bodyPr>
            <a:normAutofit/>
          </a:bodyPr>
          <a:lstStyle/>
          <a:p>
            <a:pPr marL="342900" indent="-342900" algn="just" fontAlgn="base">
              <a:buClrTx/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Must be present inside the class in due time.</a:t>
            </a:r>
          </a:p>
          <a:p>
            <a:pPr marL="342900" indent="-342900" algn="just" fontAlgn="base">
              <a:buClrTx/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Break time: </a:t>
            </a:r>
            <a:r>
              <a:rPr lang="en-US" sz="2400" dirty="0">
                <a:solidFill>
                  <a:srgbClr val="FF0000"/>
                </a:solidFill>
              </a:rPr>
              <a:t>15-20 minutes (max)</a:t>
            </a:r>
            <a:r>
              <a:rPr lang="en-US" sz="2400" dirty="0">
                <a:solidFill>
                  <a:schemeClr val="tx1"/>
                </a:solidFill>
              </a:rPr>
              <a:t> break will be given in the middle of the class.</a:t>
            </a:r>
          </a:p>
          <a:p>
            <a:pPr marL="342900" indent="-342900" algn="just" fontAlgn="base">
              <a:buClrTx/>
              <a:buSzPct val="100000"/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Must have at least </a:t>
            </a:r>
            <a:r>
              <a:rPr lang="en-US" sz="2400" dirty="0">
                <a:solidFill>
                  <a:srgbClr val="FF0000"/>
                </a:solidFill>
              </a:rPr>
              <a:t>80% attendance</a:t>
            </a:r>
            <a:r>
              <a:rPr lang="en-US" sz="2400" dirty="0">
                <a:solidFill>
                  <a:schemeClr val="tx1"/>
                </a:solidFill>
              </a:rPr>
              <a:t> to pass this course. Failure to do so will result in an </a:t>
            </a:r>
            <a:r>
              <a:rPr lang="en-US" sz="2400" dirty="0">
                <a:solidFill>
                  <a:srgbClr val="FF0000"/>
                </a:solidFill>
              </a:rPr>
              <a:t>automatic UW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indent="-342900" algn="just" fontAlgn="base">
              <a:buClrTx/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Must appear in the mid and final lab exams.</a:t>
            </a:r>
          </a:p>
          <a:p>
            <a:pPr marL="342900" indent="-342900" algn="just" fontAlgn="base">
              <a:buClrTx/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No make-up lab exam.</a:t>
            </a:r>
          </a:p>
          <a:p>
            <a:pPr marL="342900" indent="-342900" algn="just" fontAlgn="base">
              <a:buClr>
                <a:schemeClr val="tx1"/>
              </a:buClr>
              <a:buSzPct val="100000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No bonus request! </a:t>
            </a:r>
            <a:r>
              <a:rPr lang="en-US" sz="2000" i="1" dirty="0">
                <a:solidFill>
                  <a:schemeClr val="tx1"/>
                </a:solidFill>
              </a:rPr>
              <a:t>(May be given for any good performances)</a:t>
            </a:r>
          </a:p>
          <a:p>
            <a:pPr marL="342900" indent="-342900" algn="just" fontAlgn="base">
              <a:buClrTx/>
              <a:buSzPct val="100000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No cheating, you’ll get an </a:t>
            </a:r>
            <a:r>
              <a:rPr lang="en-US" sz="2400" dirty="0">
                <a:solidFill>
                  <a:srgbClr val="FF0000"/>
                </a:solidFill>
              </a:rPr>
              <a:t>F</a:t>
            </a:r>
            <a:r>
              <a:rPr lang="en-US" sz="2400" dirty="0">
                <a:solidFill>
                  <a:schemeClr val="tx1"/>
                </a:solidFill>
              </a:rPr>
              <a:t> in the course.</a:t>
            </a:r>
          </a:p>
        </p:txBody>
      </p:sp>
    </p:spTree>
    <p:extLst>
      <p:ext uri="{BB962C8B-B14F-4D97-AF65-F5344CB8AC3E}">
        <p14:creationId xmlns:p14="http://schemas.microsoft.com/office/powerpoint/2010/main" val="89533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Prerequisites of Today’s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424016"/>
            <a:ext cx="598676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Have a basic understanding of -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Loops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Arrays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Functions</a:t>
            </a:r>
            <a:endParaRPr lang="x-none" sz="24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337423"/>
            <a:ext cx="831924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Initialize an array of n elements and print the array elements in reverse order. Then find the largest element, smallest element and average value of the elements.</a:t>
            </a:r>
            <a:endParaRPr lang="en-US" dirty="0"/>
          </a:p>
          <a:p>
            <a:pPr algn="just"/>
            <a:endParaRPr lang="en-US" sz="2000" dirty="0"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Sample Input: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4 1 2 7 4</a:t>
            </a:r>
            <a:endParaRPr lang="en-US" sz="2000" b="1" dirty="0"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Sample Output:</a:t>
            </a:r>
            <a:endParaRPr lang="en-US" sz="2000" b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00B050"/>
                </a:solidFill>
                <a:cs typeface="Times New Roman" panose="02020603050405020304" pitchFamily="18" charset="0"/>
              </a:rPr>
              <a:t>Reverse order: </a:t>
            </a:r>
            <a:r>
              <a:rPr lang="en-US" sz="20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4 7 2 1 4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Times New Roman" panose="02020603050405020304" pitchFamily="18" charset="0"/>
              </a:rPr>
              <a:t>Largest element: </a:t>
            </a:r>
            <a:r>
              <a:rPr lang="en-US" sz="2000" b="1" dirty="0">
                <a:solidFill>
                  <a:srgbClr val="00B050"/>
                </a:solidFill>
                <a:cs typeface="Times New Roman" panose="02020603050405020304" pitchFamily="18" charset="0"/>
              </a:rPr>
              <a:t>7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Times New Roman" panose="02020603050405020304" pitchFamily="18" charset="0"/>
              </a:rPr>
              <a:t>Smallest element: </a:t>
            </a:r>
            <a:r>
              <a:rPr lang="en-US" sz="2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Times New Roman" panose="02020603050405020304" pitchFamily="18" charset="0"/>
              </a:rPr>
              <a:t>Average value of the elements: </a:t>
            </a:r>
            <a:r>
              <a:rPr lang="en-US" sz="2000" b="1" dirty="0">
                <a:solidFill>
                  <a:srgbClr val="00B050"/>
                </a:solidFill>
                <a:cs typeface="Times New Roman" panose="02020603050405020304" pitchFamily="18" charset="0"/>
              </a:rPr>
              <a:t>3.6</a:t>
            </a:r>
            <a:endParaRPr lang="en-US" b="1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337423"/>
            <a:ext cx="83192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en-US" sz="2400" dirty="0"/>
              <a:t>Initialize an integer array of n elements from the user and print how many numbers are odd, how many numbers are even, sum the odd numbers, sum the even numbers.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2000" dirty="0"/>
              <a:t>Sample Input: 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cs typeface="Courier New" panose="02070309020205020404" pitchFamily="49" charset="0"/>
              </a:rPr>
              <a:t>3 4 1 8 7 2 5</a:t>
            </a:r>
            <a:endParaRPr lang="en-US" sz="2000" b="1" dirty="0"/>
          </a:p>
          <a:p>
            <a:pPr algn="just"/>
            <a:r>
              <a:rPr lang="en-US" sz="2000" dirty="0"/>
              <a:t>Sample Output: 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Total odd numbers: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4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Total even numbers: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3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Sum of odd numbers: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16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Sum of even numbers: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850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309288"/>
            <a:ext cx="831924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US" sz="2400" dirty="0"/>
              <a:t>Write a function that takes TWO parameters to print all the odd and even numbers between a given range. Input the starting value of the range and ending value of the range. Then, send them as the parameters to your function.</a:t>
            </a:r>
            <a:endParaRPr lang="en-US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Sample Input: </a:t>
            </a:r>
          </a:p>
          <a:p>
            <a:pPr algn="just"/>
            <a:r>
              <a:rPr lang="en-US" sz="2000" dirty="0">
                <a:solidFill>
                  <a:schemeClr val="accent1"/>
                </a:solidFill>
              </a:rPr>
              <a:t>Staring range: </a:t>
            </a:r>
            <a:r>
              <a:rPr lang="en-US" sz="2000" b="1" dirty="0">
                <a:solidFill>
                  <a:schemeClr val="accent1"/>
                </a:solidFill>
                <a:cs typeface="Courier New" panose="02070309020205020404" pitchFamily="49" charset="0"/>
              </a:rPr>
              <a:t>12</a:t>
            </a:r>
          </a:p>
          <a:p>
            <a:pPr algn="just"/>
            <a:r>
              <a:rPr lang="en-US" sz="2000" dirty="0">
                <a:solidFill>
                  <a:schemeClr val="accent1"/>
                </a:solidFill>
                <a:cs typeface="Courier New" panose="02070309020205020404" pitchFamily="49" charset="0"/>
              </a:rPr>
              <a:t>Ending range: </a:t>
            </a:r>
            <a:r>
              <a:rPr lang="en-US" sz="2000" b="1" dirty="0">
                <a:solidFill>
                  <a:schemeClr val="accent1"/>
                </a:solidFill>
                <a:cs typeface="Courier New" panose="02070309020205020404" pitchFamily="49" charset="0"/>
              </a:rPr>
              <a:t>23</a:t>
            </a:r>
          </a:p>
          <a:p>
            <a:pPr algn="just"/>
            <a:r>
              <a:rPr lang="en-US" sz="2000" dirty="0"/>
              <a:t>Sample Output</a:t>
            </a:r>
            <a:r>
              <a:rPr lang="en-US" sz="2000" b="1" dirty="0">
                <a:cs typeface="Courier New" panose="02070309020205020404" pitchFamily="49" charset="0"/>
              </a:rPr>
              <a:t>: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Odd numbers in that range: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13 15 17 19 21 23</a:t>
            </a:r>
          </a:p>
          <a:p>
            <a:pPr algn="just"/>
            <a:r>
              <a:rPr lang="en-US" sz="2000" dirty="0">
                <a:solidFill>
                  <a:srgbClr val="00B050"/>
                </a:solidFill>
                <a:cs typeface="Courier New" panose="02070309020205020404" pitchFamily="49" charset="0"/>
              </a:rPr>
              <a:t>Even numbers in that range: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12 14 16 18 20 22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6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337423"/>
            <a:ext cx="831924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4"/>
            </a:pPr>
            <a:r>
              <a:rPr lang="en-US" sz="2400" dirty="0"/>
              <a:t>Write a function to calculate factorial of a given integer number if that number is a prime number. If it is not, it will give an error.</a:t>
            </a:r>
          </a:p>
          <a:p>
            <a:pPr algn="just"/>
            <a:endParaRPr lang="en-US" dirty="0"/>
          </a:p>
          <a:p>
            <a:pPr algn="just"/>
            <a:r>
              <a:rPr lang="en-US" sz="2000" dirty="0"/>
              <a:t>Sample Scenario 1</a:t>
            </a:r>
          </a:p>
          <a:p>
            <a:pPr algn="just"/>
            <a:r>
              <a:rPr lang="en-US" sz="2000" dirty="0"/>
              <a:t>Input: </a:t>
            </a:r>
            <a:r>
              <a:rPr 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5</a:t>
            </a:r>
          </a:p>
          <a:p>
            <a:pPr algn="just"/>
            <a:r>
              <a:rPr lang="en-US" sz="2000" dirty="0"/>
              <a:t>Output: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120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Sample Scenario 2</a:t>
            </a:r>
          </a:p>
          <a:p>
            <a:pPr algn="just"/>
            <a:r>
              <a:rPr lang="en-US" sz="2000" dirty="0"/>
              <a:t>Input: </a:t>
            </a:r>
            <a:r>
              <a:rPr lang="en-US" sz="2000" b="1" dirty="0">
                <a:solidFill>
                  <a:srgbClr val="0070C0"/>
                </a:solidFill>
                <a:cs typeface="Courier New" panose="02070309020205020404" pitchFamily="49" charset="0"/>
              </a:rPr>
              <a:t>4</a:t>
            </a:r>
          </a:p>
          <a:p>
            <a:pPr algn="just"/>
            <a:r>
              <a:rPr lang="en-US" sz="2000" dirty="0"/>
              <a:t>Output: </a:t>
            </a:r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Error! Not a prime number.</a:t>
            </a:r>
          </a:p>
        </p:txBody>
      </p:sp>
    </p:spTree>
    <p:extLst>
      <p:ext uri="{BB962C8B-B14F-4D97-AF65-F5344CB8AC3E}">
        <p14:creationId xmlns:p14="http://schemas.microsoft.com/office/powerpoint/2010/main" val="65847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295220"/>
            <a:ext cx="831924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5"/>
            </a:pPr>
            <a:r>
              <a:rPr lang="en-US" sz="2400" dirty="0"/>
              <a:t>Write a program to perform matrix addition between 3 matrices.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Sample Input:</a:t>
            </a:r>
          </a:p>
          <a:p>
            <a:pPr algn="just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cs typeface="Courier New" panose="02070309020205020404" pitchFamily="49" charset="0"/>
              </a:rPr>
              <a:t>12 13 14     1 2 3     101 104 107</a:t>
            </a:r>
          </a:p>
          <a:p>
            <a:pPr algn="just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cs typeface="Courier New" panose="02070309020205020404" pitchFamily="49" charset="0"/>
              </a:rPr>
              <a:t>15 16 17     4 5 6     102 105 108</a:t>
            </a:r>
          </a:p>
          <a:p>
            <a:pPr algn="just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cs typeface="Courier New" panose="02070309020205020404" pitchFamily="49" charset="0"/>
              </a:rPr>
              <a:t>18 19 20     7 8 9     103 106 109</a:t>
            </a:r>
          </a:p>
          <a:p>
            <a:pPr algn="just"/>
            <a:endParaRPr lang="en-US" sz="2000" b="1" dirty="0">
              <a:solidFill>
                <a:schemeClr val="bg2">
                  <a:lumMod val="50000"/>
                </a:schemeClr>
              </a:solidFill>
              <a:cs typeface="Courier New" panose="02070309020205020404" pitchFamily="49" charset="0"/>
            </a:endParaRPr>
          </a:p>
          <a:p>
            <a:pPr algn="just"/>
            <a:r>
              <a:rPr lang="en-US" sz="2000" dirty="0"/>
              <a:t>Sample Output:</a:t>
            </a:r>
          </a:p>
          <a:p>
            <a:pPr algn="just"/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114 119 124</a:t>
            </a:r>
          </a:p>
          <a:p>
            <a:pPr algn="just"/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121 126 131</a:t>
            </a:r>
          </a:p>
          <a:p>
            <a:pPr algn="just"/>
            <a:r>
              <a:rPr lang="en-US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128 133 138</a:t>
            </a:r>
            <a:endParaRPr lang="en-US" b="1" dirty="0">
              <a:solidFill>
                <a:srgbClr val="00B050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483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5496" y="1594093"/>
            <a:ext cx="83690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</a:t>
            </a:r>
            <a:r>
              <a:rPr lang="en-US" b="1" dirty="0" err="1"/>
              <a:t>Schaum's</a:t>
            </a:r>
            <a:r>
              <a:rPr lang="en-US" b="1" dirty="0"/>
              <a:t> Outline of Data Structures with C++”</a:t>
            </a:r>
            <a:r>
              <a:rPr lang="en-US" dirty="0"/>
              <a:t>. By John R. Hubbard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Program Design”, </a:t>
            </a:r>
            <a:r>
              <a:rPr lang="en-US" dirty="0"/>
              <a:t>Robert L. Kruse, 3</a:t>
            </a:r>
            <a:r>
              <a:rPr lang="en-US" baseline="30000" dirty="0"/>
              <a:t>rd</a:t>
            </a:r>
            <a:r>
              <a:rPr lang="en-US" dirty="0"/>
              <a:t> Edition, 1996.</a:t>
            </a:r>
            <a:r>
              <a:rPr lang="en-US" b="1" dirty="0"/>
              <a:t> </a:t>
            </a:r>
            <a:endParaRPr lang="en-US" dirty="0"/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structures, algorithms and performance”, </a:t>
            </a:r>
            <a:r>
              <a:rPr lang="en-US" dirty="0"/>
              <a:t>D. Wood, Addison-Wesley, 1993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“Advanced Data Structures”, </a:t>
            </a:r>
            <a:r>
              <a:rPr lang="en-US" dirty="0"/>
              <a:t>Peter Brass, Cambridge University Press, 2008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 Analysis”, </a:t>
            </a:r>
            <a:r>
              <a:rPr lang="en-US" dirty="0"/>
              <a:t>Edition 3.2 (C++ Version), Clifford A. Shaffer, Virginia Tech, Blacksburg, VA 24061 January 2, 2012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“C++  Data Structures”, </a:t>
            </a:r>
            <a:r>
              <a:rPr lang="en-US" dirty="0"/>
              <a:t>Nell Dale and David Teague, Jones and Bartlett Publishers, 2001.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r>
              <a:rPr lang="en-US" b="1" dirty="0"/>
              <a:t>“Data Structures and Algorithms with Object-Oriented Design Patterns in C++”, </a:t>
            </a:r>
            <a:r>
              <a:rPr lang="en-US" dirty="0"/>
              <a:t>Bruno R. </a:t>
            </a:r>
            <a:r>
              <a:rPr lang="en-US" dirty="0" err="1"/>
              <a:t>Preiss</a:t>
            </a:r>
            <a:r>
              <a:rPr lang="en-US" dirty="0"/>
              <a:t>,</a:t>
            </a:r>
          </a:p>
          <a:p>
            <a:pPr marL="342900" indent="-342900" algn="just">
              <a:buSzPct val="90000"/>
              <a:buFont typeface="Wingdings" panose="05000000000000000000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78464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8539C60182AE4C8C5632DCF07A9657" ma:contentTypeVersion="0" ma:contentTypeDescription="Create a new document." ma:contentTypeScope="" ma:versionID="9f538743a4495ccbca651eac251317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9D0898-FFF1-4473-973E-08BED649B90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AECAC6-44CC-4F71-96F0-7A1E75F22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7CD182-58F9-4BB7-A7EC-919282E776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395</TotalTime>
  <Words>700</Words>
  <Application>Microsoft Office PowerPoint</Application>
  <PresentationFormat>On-screen Show (4:3)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Spectrum</vt:lpstr>
      <vt:lpstr>Course Title: Data Structure (Lab) Course Code: CSC 2107</vt:lpstr>
      <vt:lpstr>Lecture Outline</vt:lpstr>
      <vt:lpstr>Assessment and Evaluation</vt:lpstr>
      <vt:lpstr>Assessment and Evaluation</vt:lpstr>
      <vt:lpstr>Rules and Guidelines</vt:lpstr>
      <vt:lpstr>Prerequisites of Today’s Task</vt:lpstr>
      <vt:lpstr>Lab Tasks</vt:lpstr>
      <vt:lpstr>Lab Tasks</vt:lpstr>
      <vt:lpstr>Lab Tasks</vt:lpstr>
      <vt:lpstr>Lab Tasks</vt:lpstr>
      <vt:lpstr>Lab Tasks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nyme.ahmed@aiub.edu</cp:lastModifiedBy>
  <cp:revision>133</cp:revision>
  <dcterms:created xsi:type="dcterms:W3CDTF">2018-12-10T17:20:29Z</dcterms:created>
  <dcterms:modified xsi:type="dcterms:W3CDTF">2022-09-18T20:06:37Z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0x0101004C8539C60182AE4C8C5632DCF07A9657</vt:lpwstr>
  </property>
</Properties>
</file>