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67" r:id="rId6"/>
    <p:sldId id="269" r:id="rId7"/>
    <p:sldId id="270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5E8905-3A9F-4DF8-BE85-8764B14DC0D4}" v="1" dt="2019-04-17T04:06:04.6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64" d="100"/>
          <a:sy n="64" d="100"/>
        </p:scale>
        <p:origin x="13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10/5/2022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yme.ahmed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6205" y="795130"/>
            <a:ext cx="7808976" cy="785704"/>
          </a:xfrm>
        </p:spPr>
        <p:txBody>
          <a:bodyPr>
            <a:noAutofit/>
          </a:bodyPr>
          <a:lstStyle/>
          <a:p>
            <a:r>
              <a:rPr lang="en-US" sz="4000" dirty="0"/>
              <a:t>2-D Array, String and Structure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80834"/>
            <a:ext cx="2789509" cy="484632"/>
          </a:xfrm>
        </p:spPr>
        <p:txBody>
          <a:bodyPr/>
          <a:lstStyle/>
          <a:p>
            <a:r>
              <a:rPr lang="en-US" dirty="0"/>
              <a:t>Course Code: </a:t>
            </a:r>
            <a:r>
              <a:rPr lang="en-US"/>
              <a:t>CSC 2107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881293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Fall 2022-23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Nyme Ahmed (</a:t>
                      </a:r>
                      <a:r>
                        <a:rPr lang="en-US" i="1" dirty="0">
                          <a:solidFill>
                            <a:srgbClr val="0070C0"/>
                          </a:solidFill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nyme.ahmed@aiub.edu</a:t>
                      </a:r>
                      <a:r>
                        <a:rPr lang="en-US" i="1" dirty="0"/>
                        <a:t>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95821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Data </a:t>
            </a:r>
            <a:r>
              <a:rPr lang="en-US"/>
              <a:t>Structure (Lab)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Problem Descriptions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Problem 1</a:t>
            </a:r>
            <a:endParaRPr lang="x-non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476205" y="2435897"/>
            <a:ext cx="831924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US" dirty="0"/>
              <a:t>Write a C++ program to initialize two matrices of </a:t>
            </a:r>
            <a:r>
              <a:rPr lang="en-US" dirty="0">
                <a:solidFill>
                  <a:srgbClr val="FF0000"/>
                </a:solidFill>
              </a:rPr>
              <a:t>5 </a:t>
            </a:r>
            <a:r>
              <a:rPr lang="en-US" dirty="0"/>
              <a:t>x </a:t>
            </a:r>
            <a:r>
              <a:rPr lang="en-US" dirty="0">
                <a:solidFill>
                  <a:srgbClr val="7030A0"/>
                </a:solidFill>
              </a:rPr>
              <a:t>5 </a:t>
            </a:r>
            <a:r>
              <a:rPr lang="en-US" dirty="0"/>
              <a:t>and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5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/>
              <a:t>x</a:t>
            </a:r>
            <a:r>
              <a:rPr lang="en-US" dirty="0">
                <a:solidFill>
                  <a:srgbClr val="7030A0"/>
                </a:solidFill>
              </a:rPr>
              <a:t> 6</a:t>
            </a:r>
            <a:r>
              <a:rPr lang="en-US" dirty="0"/>
              <a:t> (</a:t>
            </a:r>
            <a:r>
              <a:rPr lang="en-US" dirty="0">
                <a:solidFill>
                  <a:srgbClr val="FF0000"/>
                </a:solidFill>
              </a:rPr>
              <a:t>row</a:t>
            </a:r>
            <a:r>
              <a:rPr lang="en-US" dirty="0"/>
              <a:t> x </a:t>
            </a:r>
            <a:r>
              <a:rPr lang="en-US" dirty="0">
                <a:solidFill>
                  <a:srgbClr val="7030A0"/>
                </a:solidFill>
              </a:rPr>
              <a:t>column</a:t>
            </a:r>
            <a:r>
              <a:rPr lang="en-US" dirty="0"/>
              <a:t>) sizes. Multiply them, then find the transpose matrix of it.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For example,</a:t>
            </a:r>
          </a:p>
          <a:p>
            <a:pPr algn="just"/>
            <a:r>
              <a:rPr lang="en-US" dirty="0">
                <a:cs typeface="Courier New" panose="02070309020205020404" pitchFamily="49" charset="0"/>
              </a:rPr>
              <a:t>If your multiplication answer of two matrices is-</a:t>
            </a:r>
          </a:p>
          <a:p>
            <a:pPr algn="just"/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1 0 0 0 0 0</a:t>
            </a:r>
          </a:p>
          <a:p>
            <a:pPr algn="just"/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2 0 0 0 0 0</a:t>
            </a:r>
          </a:p>
          <a:p>
            <a:pPr algn="just"/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3 0 0 0 0 0 </a:t>
            </a:r>
          </a:p>
          <a:p>
            <a:pPr algn="just"/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4 0 0 0 0 0</a:t>
            </a:r>
          </a:p>
          <a:p>
            <a:pPr algn="just"/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5 0 0 0 0 0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7BCB2E-A17E-4F8B-DCB9-BA48B9605ABC}"/>
              </a:ext>
            </a:extLst>
          </p:cNvPr>
          <p:cNvSpPr/>
          <p:nvPr/>
        </p:nvSpPr>
        <p:spPr>
          <a:xfrm>
            <a:off x="2703365" y="4144618"/>
            <a:ext cx="3299792" cy="191450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>
                <a:solidFill>
                  <a:schemeClr val="tx1"/>
                </a:solidFill>
              </a:rPr>
              <a:t>Then, transpose matrix will be:</a:t>
            </a:r>
          </a:p>
          <a:p>
            <a:pPr algn="just"/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1 2 3 4 5</a:t>
            </a:r>
          </a:p>
          <a:p>
            <a:pPr algn="just"/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0 0 0 0 0</a:t>
            </a:r>
          </a:p>
          <a:p>
            <a:pPr algn="just"/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0 0 0 0 0</a:t>
            </a:r>
          </a:p>
          <a:p>
            <a:pPr algn="just"/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0 0 0 0 0</a:t>
            </a:r>
          </a:p>
          <a:p>
            <a:pPr algn="just"/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0 0 0 0 0</a:t>
            </a:r>
          </a:p>
          <a:p>
            <a:pPr algn="just"/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0 0 0 0 0 </a:t>
            </a:r>
          </a:p>
        </p:txBody>
      </p:sp>
    </p:spTree>
    <p:extLst>
      <p:ext uri="{BB962C8B-B14F-4D97-AF65-F5344CB8AC3E}">
        <p14:creationId xmlns:p14="http://schemas.microsoft.com/office/powerpoint/2010/main" val="3132154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Problem Descriptions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Problem 2</a:t>
            </a:r>
            <a:endParaRPr lang="x-non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421341" y="2435897"/>
            <a:ext cx="8319243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eriod" startAt="2"/>
            </a:pPr>
            <a:r>
              <a:rPr lang="en-US" dirty="0"/>
              <a:t>Write a code that will create custom ciphers (encoded words) on strings. Follow this procedure:</a:t>
            </a:r>
          </a:p>
          <a:p>
            <a:pPr marL="857250" lvl="1" indent="-400050" algn="just">
              <a:buFont typeface="+mj-lt"/>
              <a:buAutoNum type="romanLcPeriod"/>
            </a:pPr>
            <a:r>
              <a:rPr lang="en-US" sz="1600" dirty="0"/>
              <a:t>Write a function named </a:t>
            </a:r>
            <a:r>
              <a:rPr lang="en-US" sz="1600" b="1" i="1" dirty="0"/>
              <a:t>encode</a:t>
            </a:r>
            <a:r>
              <a:rPr lang="en-US" sz="1600" b="1" dirty="0"/>
              <a:t> </a:t>
            </a:r>
            <a:r>
              <a:rPr lang="en-US" sz="1600" dirty="0"/>
              <a:t>that takes TWO parameters, a string </a:t>
            </a:r>
            <a:r>
              <a:rPr lang="en-US" sz="1600" b="1" dirty="0"/>
              <a:t>s</a:t>
            </a:r>
            <a:r>
              <a:rPr lang="en-US" sz="1600" dirty="0"/>
              <a:t> and an integer </a:t>
            </a:r>
            <a:r>
              <a:rPr lang="en-US" sz="1600" b="1" dirty="0"/>
              <a:t>j</a:t>
            </a:r>
            <a:r>
              <a:rPr lang="en-US" sz="1600" dirty="0"/>
              <a:t>.</a:t>
            </a:r>
          </a:p>
          <a:p>
            <a:pPr marL="857250" lvl="1" indent="-400050" algn="just">
              <a:buFont typeface="+mj-lt"/>
              <a:buAutoNum type="romanLcPeriod"/>
            </a:pPr>
            <a:r>
              <a:rPr lang="en-US" sz="1600" dirty="0"/>
              <a:t>Skip </a:t>
            </a:r>
            <a:r>
              <a:rPr lang="en-US" sz="1600" b="1" dirty="0"/>
              <a:t>j</a:t>
            </a:r>
            <a:r>
              <a:rPr lang="en-US" sz="1600" dirty="0"/>
              <a:t> number of characters in the string and increase the ASCII value of the next character by </a:t>
            </a:r>
            <a:r>
              <a:rPr lang="en-US" sz="1600" b="1" dirty="0"/>
              <a:t>3</a:t>
            </a:r>
            <a:r>
              <a:rPr lang="en-US" sz="1600" dirty="0"/>
              <a:t>.</a:t>
            </a:r>
          </a:p>
          <a:p>
            <a:pPr marL="857250" lvl="1" indent="-400050" algn="just">
              <a:buFont typeface="+mj-lt"/>
              <a:buAutoNum type="romanLcPeriod"/>
            </a:pPr>
            <a:r>
              <a:rPr lang="en-US" sz="1600" dirty="0"/>
              <a:t>Print the encoded string.</a:t>
            </a:r>
          </a:p>
          <a:p>
            <a:pPr marL="857250" lvl="1" indent="-400050" algn="just">
              <a:buFont typeface="+mj-lt"/>
              <a:buAutoNum type="romanLcPeriod"/>
            </a:pPr>
            <a:r>
              <a:rPr lang="en-US" sz="1600" dirty="0"/>
              <a:t>Then write a function named </a:t>
            </a:r>
            <a:r>
              <a:rPr lang="en-US" sz="1600" b="1" i="1" dirty="0"/>
              <a:t>decode</a:t>
            </a:r>
            <a:r>
              <a:rPr lang="en-US" sz="1600" dirty="0"/>
              <a:t> which will decode the string from iii.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1341" y="4608214"/>
            <a:ext cx="708886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example,</a:t>
            </a:r>
          </a:p>
          <a:p>
            <a:r>
              <a:rPr lang="en-US" b="1" dirty="0"/>
              <a:t>Sample String (s):</a:t>
            </a:r>
            <a:r>
              <a:rPr lang="en-US" dirty="0"/>
              <a:t> I am a student</a:t>
            </a:r>
          </a:p>
          <a:p>
            <a:r>
              <a:rPr lang="en-US" b="1" dirty="0"/>
              <a:t>Sample Integer (j):</a:t>
            </a:r>
            <a:r>
              <a:rPr lang="en-US" dirty="0"/>
              <a:t> 2</a:t>
            </a:r>
          </a:p>
          <a:p>
            <a:r>
              <a:rPr lang="en-US" b="1" dirty="0"/>
              <a:t>Encoded String:</a:t>
            </a:r>
            <a:r>
              <a:rPr lang="en-US" dirty="0"/>
              <a:t> I cm c </a:t>
            </a:r>
            <a:r>
              <a:rPr lang="en-US" dirty="0" err="1"/>
              <a:t>svudgnt</a:t>
            </a:r>
            <a:endParaRPr lang="en-US" dirty="0"/>
          </a:p>
          <a:p>
            <a:r>
              <a:rPr lang="en-US" b="1" dirty="0"/>
              <a:t>Decoded String: </a:t>
            </a:r>
            <a:r>
              <a:rPr lang="en-US" dirty="0"/>
              <a:t>I am a student</a:t>
            </a:r>
          </a:p>
        </p:txBody>
      </p:sp>
    </p:spTree>
    <p:extLst>
      <p:ext uri="{BB962C8B-B14F-4D97-AF65-F5344CB8AC3E}">
        <p14:creationId xmlns:p14="http://schemas.microsoft.com/office/powerpoint/2010/main" val="998503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Problem Descriptions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Problem 3</a:t>
            </a:r>
            <a:endParaRPr lang="x-non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421341" y="2435897"/>
            <a:ext cx="831924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eriod" startAt="3"/>
            </a:pPr>
            <a:r>
              <a:rPr lang="en-US" dirty="0">
                <a:cs typeface="Courier New" panose="02070309020205020404" pitchFamily="49" charset="0"/>
              </a:rPr>
              <a:t>Write a C++ program with appropriate data structure to keep records of 15 students. Each student will have the following information:</a:t>
            </a:r>
          </a:p>
          <a:p>
            <a:pPr marL="857250" lvl="1" indent="-400050" algn="just">
              <a:buFont typeface="+mj-lt"/>
              <a:buAutoNum type="romanLcPeriod"/>
            </a:pPr>
            <a:r>
              <a:rPr lang="en-US" dirty="0">
                <a:cs typeface="Courier New" panose="02070309020205020404" pitchFamily="49" charset="0"/>
              </a:rPr>
              <a:t>Unique ID (you can use </a:t>
            </a:r>
            <a:r>
              <a:rPr lang="en-US" i="1" dirty="0">
                <a:cs typeface="Courier New" panose="02070309020205020404" pitchFamily="49" charset="0"/>
              </a:rPr>
              <a:t>integer</a:t>
            </a:r>
            <a:r>
              <a:rPr lang="en-US" dirty="0">
                <a:cs typeface="Courier New" panose="02070309020205020404" pitchFamily="49" charset="0"/>
              </a:rPr>
              <a:t> for this)</a:t>
            </a:r>
          </a:p>
          <a:p>
            <a:pPr marL="857250" lvl="1" indent="-400050" algn="just">
              <a:buFont typeface="+mj-lt"/>
              <a:buAutoNum type="romanLcPeriod"/>
            </a:pPr>
            <a:r>
              <a:rPr lang="en-US" dirty="0">
                <a:cs typeface="Courier New" panose="02070309020205020404" pitchFamily="49" charset="0"/>
              </a:rPr>
              <a:t>Number of semesters complete</a:t>
            </a:r>
          </a:p>
          <a:p>
            <a:pPr marL="857250" lvl="1" indent="-400050" algn="just">
              <a:buFont typeface="+mj-lt"/>
              <a:buAutoNum type="romanLcPeriod"/>
            </a:pPr>
            <a:r>
              <a:rPr lang="en-US" dirty="0">
                <a:cs typeface="Courier New" panose="02070309020205020404" pitchFamily="49" charset="0"/>
              </a:rPr>
              <a:t>Number of credits completed</a:t>
            </a:r>
          </a:p>
          <a:p>
            <a:pPr marL="857250" lvl="1" indent="-400050" algn="just">
              <a:buFont typeface="+mj-lt"/>
              <a:buAutoNum type="romanLcPeriod"/>
            </a:pPr>
            <a:r>
              <a:rPr lang="en-US" dirty="0">
                <a:cs typeface="Courier New" panose="02070309020205020404" pitchFamily="49" charset="0"/>
              </a:rPr>
              <a:t>CGPA</a:t>
            </a:r>
          </a:p>
          <a:p>
            <a:pPr marL="342900" indent="-342900" algn="just">
              <a:buFont typeface="+mj-lt"/>
              <a:buAutoNum type="arabicPeriod" startAt="3"/>
            </a:pPr>
            <a:endParaRPr lang="en-US" dirty="0">
              <a:cs typeface="Courier New" panose="02070309020205020404" pitchFamily="49" charset="0"/>
            </a:endParaRPr>
          </a:p>
          <a:p>
            <a:pPr marL="342900" indent="-342900" algn="just">
              <a:buFont typeface="+mj-lt"/>
              <a:buAutoNum type="alphaLcParenR"/>
            </a:pPr>
            <a:r>
              <a:rPr lang="en-US" dirty="0">
                <a:cs typeface="Courier New" panose="02070309020205020404" pitchFamily="49" charset="0"/>
              </a:rPr>
              <a:t>Print all the student’s ID whose CGPA is more than </a:t>
            </a:r>
            <a:r>
              <a:rPr lang="en-US" b="1" dirty="0">
                <a:cs typeface="Courier New" panose="02070309020205020404" pitchFamily="49" charset="0"/>
              </a:rPr>
              <a:t>3.50</a:t>
            </a:r>
            <a:r>
              <a:rPr lang="en-US" dirty="0">
                <a:cs typeface="Courier New" panose="02070309020205020404" pitchFamily="49" charset="0"/>
              </a:rPr>
              <a:t>.</a:t>
            </a:r>
          </a:p>
          <a:p>
            <a:pPr marL="342900" indent="-342900" algn="just">
              <a:buFont typeface="+mj-lt"/>
              <a:buAutoNum type="alphaLcParenR"/>
            </a:pPr>
            <a:r>
              <a:rPr lang="en-US" dirty="0">
                <a:cs typeface="Courier New" panose="02070309020205020404" pitchFamily="49" charset="0"/>
              </a:rPr>
              <a:t>Print all the student’s ID who has completed more than </a:t>
            </a:r>
            <a:r>
              <a:rPr lang="en-US" b="1" dirty="0">
                <a:cs typeface="Courier New" panose="02070309020205020404" pitchFamily="49" charset="0"/>
              </a:rPr>
              <a:t>50 credits</a:t>
            </a:r>
            <a:r>
              <a:rPr lang="en-US" dirty="0">
                <a:cs typeface="Courier New" panose="02070309020205020404" pitchFamily="49" charset="0"/>
              </a:rPr>
              <a:t>.</a:t>
            </a:r>
          </a:p>
          <a:p>
            <a:pPr marL="342900" indent="-342900" algn="just">
              <a:buFont typeface="+mj-lt"/>
              <a:buAutoNum type="alphaLcParenR"/>
            </a:pPr>
            <a:r>
              <a:rPr lang="en-US" dirty="0">
                <a:cs typeface="Courier New" panose="02070309020205020404" pitchFamily="49" charset="0"/>
              </a:rPr>
              <a:t>Print all the student’s ID who has completed minimum </a:t>
            </a:r>
            <a:r>
              <a:rPr lang="en-US" b="1" dirty="0">
                <a:cs typeface="Courier New" panose="02070309020205020404" pitchFamily="49" charset="0"/>
              </a:rPr>
              <a:t>2 semesters </a:t>
            </a:r>
            <a:r>
              <a:rPr lang="en-US" dirty="0">
                <a:cs typeface="Courier New" panose="02070309020205020404" pitchFamily="49" charset="0"/>
              </a:rPr>
              <a:t>and minimum </a:t>
            </a:r>
            <a:r>
              <a:rPr lang="en-US" b="1" dirty="0">
                <a:cs typeface="Courier New" panose="02070309020205020404" pitchFamily="49" charset="0"/>
              </a:rPr>
              <a:t>28</a:t>
            </a:r>
            <a:r>
              <a:rPr lang="en-US" dirty="0">
                <a:cs typeface="Courier New" panose="02070309020205020404" pitchFamily="49" charset="0"/>
              </a:rPr>
              <a:t> </a:t>
            </a:r>
            <a:r>
              <a:rPr lang="en-US" b="1" dirty="0">
                <a:cs typeface="Courier New" panose="02070309020205020404" pitchFamily="49" charset="0"/>
              </a:rPr>
              <a:t>credits</a:t>
            </a:r>
            <a:r>
              <a:rPr lang="en-US" dirty="0">
                <a:cs typeface="Courier New" panose="02070309020205020404" pitchFamily="49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7863794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C8539C60182AE4C8C5632DCF07A9657" ma:contentTypeVersion="0" ma:contentTypeDescription="Create a new document." ma:contentTypeScope="" ma:versionID="9f538743a4495ccbca651eac25131723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967b7be50301903c78f9c39c6fd9a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EB7B72C-6329-410C-97D5-DEF123C3425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A9F2CC7-5582-4D18-A535-9857E903616D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BA6309B7-E160-4A57-BBBD-0912523E4D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448</TotalTime>
  <Words>371</Words>
  <Application>Microsoft Office PowerPoint</Application>
  <PresentationFormat>On-screen Show (4:3)</PresentationFormat>
  <Paragraphs>54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Corbel</vt:lpstr>
      <vt:lpstr>Courier New</vt:lpstr>
      <vt:lpstr>Wingdings</vt:lpstr>
      <vt:lpstr>Spectrum</vt:lpstr>
      <vt:lpstr>2-D Array, String and Structure</vt:lpstr>
      <vt:lpstr>Problem Descriptions</vt:lpstr>
      <vt:lpstr>Problem Descriptions</vt:lpstr>
      <vt:lpstr>Problem Descriptions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Nyme Ahmed</cp:lastModifiedBy>
  <cp:revision>162</cp:revision>
  <dcterms:created xsi:type="dcterms:W3CDTF">2018-12-10T17:20:29Z</dcterms:created>
  <dcterms:modified xsi:type="dcterms:W3CDTF">2022-10-05T18:40:45Z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0x0101004C8539C60182AE4C8C5632DCF07A9657</vt:lpwstr>
  </property>
</Properties>
</file>